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Bom dia/boa tarde a todos.</a:t>
            </a:r>
          </a:p>
          <a:p>
            <a:r>
              <a:t>Hoje vou apresentar a reprodução do artigo 'An Empirical Assessment of Different Word Embedding and Deep Learning Models for Bug Assignment', publicado no Journal of Systems and Software em 2024.</a:t>
            </a:r>
          </a:p>
          <a:p>
            <a:r>
              <a:t>O artigo foi escrito por Wang et al. e propõe uma avaliação empírica de várias combinações de embeddings e modelos de deep learning para o problema de atribuição automática de bugs a desenvolvedores.</a:t>
            </a:r>
          </a:p>
          <a:p>
            <a:r>
              <a:t>Meu nome é Pedro Mesquita Maia e esta apresentação faz parte da disciplina de Engenharia de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artigo foi publicado no Journal of Systems and Software, um dos principais periódicos internacionais de engenharia de software.</a:t>
            </a:r>
          </a:p>
          <a:p>
            <a:r>
              <a:t>É indexado no Scopus e no Web of Science, o que indica alta relevância acadêmica.</a:t>
            </a:r>
          </a:p>
          <a:p>
            <a:r>
              <a:t>Os autores disponibilizaram o código-fonte e os datasets no GitHub, o que facilitou a tentativa de reprodução.</a:t>
            </a:r>
          </a:p>
          <a:p>
            <a:r>
              <a:t>O artigo foi selecionado justamente por combinar um problema prático — atribuição automática de bugs — com técnicas modernas de NLP e aprendizado de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Atribuição de bugs é o processo de decidir qual desenvolvedor deve corrigir um determinado bug report.</a:t>
            </a:r>
          </a:p>
          <a:p>
            <a:r>
              <a:t>Normalmente isso é feito manualmente por um gerente ou triador de bugs.</a:t>
            </a:r>
          </a:p>
          <a:p>
            <a:r>
              <a:t>O que o artigo propõe é automatizar esse processo usando técnicas de processamento de linguagem natural e aprendizado de máquina.</a:t>
            </a:r>
          </a:p>
          <a:p>
            <a:r>
              <a:t>A ideia é simples: o texto do bug report é passado para um modelo que retorna o desenvolvedor mais provável de resolver o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problema de atribuição manual de bugs se torna crítico à medida que os projetos crescem.</a:t>
            </a:r>
          </a:p>
          <a:p>
            <a:r>
              <a:t>Projetos como GCC, Firefox e Eclipse recebem centenas de bugs por semana, e a triagem manual é simplesmente insustentável nessa escala.</a:t>
            </a:r>
          </a:p>
          <a:p>
            <a:r>
              <a:t>Além disso, quando um bug é atribuído ao desenvolvedor errado, ele precisa ser reatribuído — o que atrasa a correção e aumenta o custo de manutenção.</a:t>
            </a:r>
          </a:p>
          <a:p>
            <a:r>
              <a:t>Este é justamente o problema que o artigo busca resolver com aprendizado de máquina.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Escolhi este artigo por combinar um problema prático com técnicas modernas de NLP.</a:t>
            </a:r>
          </a:p>
          <a:p>
            <a:r>
              <a:t>O fato de os autores disponibilizarem o código e os datasets no GitHub foi fundamental — isso é raro e demonstra um compromisso com reprodutibilidade.</a:t>
            </a:r>
          </a:p>
          <a:p>
            <a:r>
              <a:t>Além disso, o problema é escalável: é possível rodar uma versão simplificada com recursos computacionais modestos, o que tornou a reprodução viável dentro do prazo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artigo é estruturado em torno de três questões de pesquisa.</a:t>
            </a:r>
          </a:p>
          <a:p>
            <a:r>
              <a:t>A RQ1 é a principal: qual combinação de embedding e modelo de deep learning produz os melhores resultados?</a:t>
            </a:r>
          </a:p>
          <a:p>
            <a:r>
              <a:t>A RQ2 verifica se os resultados são generalizáveis — ou seja, se uma combinação que funciona bem no GCC também funciona no Firefox.</a:t>
            </a:r>
          </a:p>
          <a:p>
            <a:r>
              <a:t>A RQ3 investiga se usar tanto o título quanto a descrição do bug report melhora o desempenho em relação a usar apenas um deles.</a:t>
            </a:r>
          </a:p>
          <a:p>
            <a:r>
              <a:t>Essas questões guiam toda a estrutura experimental do artigo.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artigo utiliza três datasets clássicos da literatura de atribuição de bugs.</a:t>
            </a:r>
          </a:p>
          <a:p>
            <a:r>
              <a:t>GCC é o menor, com cerca de 2.100 registros e 82 desenvolvedores únicos.</a:t>
            </a:r>
          </a:p>
          <a:p>
            <a:r>
              <a:t>Eclipse JDT e Firefox são maiores, com cerca de 10 mil e 26 mil registros respectivamente.</a:t>
            </a:r>
          </a:p>
          <a:p>
            <a:r>
              <a:t>Um ponto muito positivo: todos os três datasets estão disponíveis diretamente no repositório GitHub dos autores como arquivos CSV compactados — nenhum download externo é necessário.</a:t>
            </a:r>
          </a:p>
          <a:p>
            <a:r>
              <a:t>Cada registro tem cinco campos: o identificador do bug, o título, a descrição, o desenvolvedor atribuído e o status de resolução.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alimentar o texto para um modelo de machine learning, precisamos convertê-lo em números.</a:t>
            </a:r>
          </a:p>
          <a:p>
            <a:r>
              <a:t>Os embeddings fazem isso: transformam palavras em vetores numéricos que capturam o significado semântico.</a:t>
            </a:r>
          </a:p>
          <a:p>
            <a:r>
              <a:t>O artigo compara cinco técnicas: Word2Vec e GloVe são estáticos — cada palavra tem sempre o mesmo vetor.</a:t>
            </a:r>
          </a:p>
          <a:p>
            <a:r>
              <a:t>ELMo e BERT são contextuais — o vetor de uma palavra muda dependendo da frase em que ela aparece, o que é mais poderoso.</a:t>
            </a:r>
          </a:p>
          <a:p>
            <a:r>
              <a:t>NextBug é um embedding especializado, treinado especificamente em bug reports, o que teoricamente o tornaria mais adequado para essa tarefa.</a:t>
            </a:r>
          </a:p>
          <a:p>
            <a:r>
              <a:t>Um problema prático: esses modelos são grandes — Word2Vec ocupa 3,6 GB, GloVe 2,2 GB — o que dificulta a reprodução.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artigo avalia seis arquiteturas de deep learning mais o Naive Bayes como baseline.</a:t>
            </a:r>
          </a:p>
          <a:p>
            <a:r>
              <a:t>MLP é a rede mais simples: camadas totalmente conectadas.</a:t>
            </a:r>
          </a:p>
          <a:p>
            <a:r>
              <a:t>TextCNN usa filtros convolucionais que capturam padrões locais no texto — similar a como funciona para imagens.</a:t>
            </a:r>
          </a:p>
          <a:p>
            <a:r>
              <a:t>LSTM e suas variantes processam o texto como uma sequência, o que é natural para linguagem.</a:t>
            </a:r>
          </a:p>
          <a:p>
            <a:r>
              <a:t>A versão bidirecional lê o texto da esquerda para direita e da direita para esquerda, capturando contexto dos dois lados.</a:t>
            </a:r>
          </a:p>
          <a:p>
            <a:r>
              <a:t>O mecanismo de atenção permite que o modelo 'preste atenção' nas partes mais relevantes do texto.</a:t>
            </a:r>
          </a:p>
          <a:p>
            <a:r>
              <a:t>Ao combinar com os 5 embeddings, chegamos a 35 configurações diferentes avaliadas no artigo.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pipeline do artigo tem cinco etapas principais.</a:t>
            </a:r>
          </a:p>
          <a:p>
            <a:r>
              <a:t>Primeiro, o texto do bug report é carregado — tanto o título (summary) quanto a descrição.</a:t>
            </a:r>
          </a:p>
          <a:p>
            <a:r>
              <a:t>Em seguida, o texto passa por pré-processamento: remoção de stopwords, caracteres especiais e tokenização.</a:t>
            </a:r>
          </a:p>
          <a:p>
            <a:r>
              <a:t>O texto limpo é então convertido em vetores numéricos usando um dos cinco embeddings avaliados.</a:t>
            </a:r>
          </a:p>
          <a:p>
            <a:r>
              <a:t>Esses vetores alimentam um dos modelos de deep learning, que produz um ranking de desenvolvedores por probabilidade.</a:t>
            </a:r>
          </a:p>
          <a:p>
            <a:r>
              <a:t>A avaliação usa validação cruzada de 10 folds, e as conclusões sobre diferenças entre modelos são validadas com testes estatísticos.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métricas usadas são padrão em sistemas de recomendação e recuperação de informação.</a:t>
            </a:r>
          </a:p>
          <a:p>
            <a:r>
              <a:t>Top-1 é a mais exigente: o modelo precisa acertar o desenvolvedor exato na primeira posição.</a:t>
            </a:r>
          </a:p>
          <a:p>
            <a:r>
              <a:t>Top-5 e Top-10 são mais tolerantes: o correto precisa aparecer entre os k primeiros — útil em sistemas onde um humano escolhe entre as sugestões.</a:t>
            </a:r>
          </a:p>
          <a:p>
            <a:r>
              <a:t>MRR mede a posição média do correto na lista. Um MRR de 0.63 significa que, em média, o desenvolvedor correto aparece próximo da segunda posição.</a:t>
            </a:r>
          </a:p>
          <a:p>
            <a:r>
              <a:t>A validação cruzada de 10 folds garante que os resultados não dependam de uma divisão específica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principais resultados do artigo são quatro.</a:t>
            </a:r>
          </a:p>
          <a:p>
            <a:r>
              <a:t>Primeiro: ELMo foi o embedding mais eficaz na maioria dos experimentos — embeddings contextuais superam os estáticos.</a:t>
            </a:r>
          </a:p>
          <a:p>
            <a:r>
              <a:t>Segundo: Bi-LSTM com atenção foi o melhor modelo geral, atingindo Top-1 de aproximadamente 0.62 no dataset JDT.</a:t>
            </a:r>
          </a:p>
          <a:p>
            <a:r>
              <a:t>Terceiro: combinar o título e a descrição do bug report melhora o desempenho — a RQ3 confirma que ambos os campos são informativos.</a:t>
            </a:r>
          </a:p>
          <a:p>
            <a:r>
              <a:t>Quarto: os resultados não são completamente generalizáveis — o melhor modelo em um dataset não é sempre o melhor nos demais.</a:t>
            </a:r>
          </a:p>
          <a:p>
            <a:r>
              <a:t>Essa última observação é importante: soluções de atribuição de bugs podem precisar ser ajustadas por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repositório do artigo é bem estruturado e contém três categorias de artefatos.</a:t>
            </a:r>
          </a:p>
          <a:p>
            <a:r>
              <a:t>Os datasets estão todos disponíveis como arquivos CSV compactados — basta fazer o download e descompactar.</a:t>
            </a:r>
          </a:p>
          <a:p>
            <a:r>
              <a:t>O código-fonte inclui as implementações dos modelos, o script de treinamento com interface de linha de comando, e as funções de pré-processamento.</a:t>
            </a:r>
          </a:p>
          <a:p>
            <a:r>
              <a:t>Os resultados pré-computados são uma adição valiosa: mesmo sem rodar todos os experimentos, é possível verificar as conclusões do artigo consultando as planilhas em res/.</a:t>
            </a:r>
          </a:p>
          <a:p>
            <a:r>
              <a:t>Esse nível de disponibilidade de artefatos é um diferencial positivo do artigo.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reproduzir o artigo integralmente seria necessário: criar um ambiente Python 3.9, baixar mais de 7 GB de modelos pré-treinados, e ter acesso a uma GPU RTX 3090.</a:t>
            </a:r>
          </a:p>
          <a:p>
            <a:r>
              <a:t>Essas restrições tornaram a reprodução completa inviável dentro do prazo e com os recursos disponíveis.</a:t>
            </a:r>
          </a:p>
          <a:p>
            <a:r>
              <a:t>A solução foi uma reprodução simplificada que mantém os elementos essenciais do pipeline: o mesmo dataset, as mesmas métricas e o mesmo protocolo de validação cruzada.</a:t>
            </a:r>
          </a:p>
          <a:p>
            <a:r>
              <a:t>A diferença é no modelo: em vez de deep learning com embeddings pesados, usamos TF-IDF com Regressão Logística, que roda em qualquer computador em menos de um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a configuração exata do experimento que executei.</a:t>
            </a:r>
          </a:p>
          <a:p>
            <a:r>
              <a:t>O dataset GCC tem 2.103 registros, mas após filtrar desenvolvedores com menos de 10 bugs ficamos com 1.987 amostras e 36 classes.</a:t>
            </a:r>
          </a:p>
          <a:p>
            <a:r>
              <a:t>Essa filtragem é necessária para que a validação cruzada de 10 folds funcione — cada classe precisa ter amostras suficientes em cada fold.</a:t>
            </a:r>
          </a:p>
          <a:p>
            <a:r>
              <a:t>O TF-IDF transforma o texto em vetores de frequência de termos, considerando unigramas e bigramas — pares de palavras consecutivas.</a:t>
            </a:r>
          </a:p>
          <a:p>
            <a:r>
              <a:t>A Regressão Logística multinomial é um classificador linear clássico que produz probabilidades para cada classe, permitindo calcular o ranking de desenvolvedores.</a:t>
            </a:r>
          </a:p>
          <a:p>
            <a:r>
              <a:t>Todo o experimento roda em cerca de 30 segundos em qualquer computador com Python e scikit-learn.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Esses são os resultados reais obtidos ao executar o script de reprodução.</a:t>
            </a:r>
          </a:p>
          <a:p>
            <a:r>
              <a:t>Top-1 de 0.52 significa que o modelo indica o desenvolvedor correto em mais da metade dos casos — na primeira sugestão.</a:t>
            </a:r>
          </a:p>
          <a:p>
            <a:r>
              <a:t>Top-5 de 0.75 indica que 3 em cada 4 bugs têm o responsável correto entre as 5 primeiras sugestões.</a:t>
            </a:r>
          </a:p>
          <a:p>
            <a:r>
              <a:t>MRR de 0.63 mostra que, em média, o correto aparece muito próximo do topo da lista.</a:t>
            </a:r>
          </a:p>
          <a:p>
            <a:r>
              <a:t>O desvio padrão baixo em todos os folds indica que o modelo é estável — não depende de uma divisão específica dos dados.</a:t>
            </a:r>
          </a:p>
          <a:p>
            <a:r>
              <a:t>Todo o experimento rodou em menos de 30 segundos numa CPU comum.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tabela compara os resultados da reprodução com os valores reportados pelo artigo para a configuração TextCNN + Word2Vec no dataset GCC.</a:t>
            </a:r>
          </a:p>
          <a:p>
            <a:r>
              <a:t>Os valores da reprodução são numericamente superiores, mas isso não significa que TF-IDF supera deep learning.</a:t>
            </a:r>
          </a:p>
          <a:p>
            <a:r>
              <a:t>A explicação é simples: o artigo avalia todos os 82 desenvolvedores do dataset, enquanto nossa reprodução filtra para apenas 36 — aqueles com pelo menos 10 amostras.</a:t>
            </a:r>
          </a:p>
          <a:p>
            <a:r>
              <a:t>Com menos classes, o problema é mais fácil de classificar corretamente.</a:t>
            </a:r>
          </a:p>
          <a:p>
            <a:r>
              <a:t>Outro ponto: o artigo relata que ELMo + Bi-LSTM com atenção atinge Top-1 de 0.62 no JDT, que provavelmente superaria nossa reprodução se testado nas mesmas condições.</a:t>
            </a:r>
          </a:p>
          <a:p>
            <a:r>
              <a:t>O que podemos concluir é que o pipeline funciona e os resultados são da ordem de grandeza esperada.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concluir, o artigo disponibiliza artefatos de boa qualidade: datasets, código e resultados pré-computados — o que facilitou a verificação das conclusões mesmo sem reprodução completa.</a:t>
            </a:r>
          </a:p>
          <a:p>
            <a:r>
              <a:t>A reprodução simplificada foi bem-sucedida: o pipeline rodou de ponta a ponta em menos de 30 segundos, com resultados coerentes com o problema.</a:t>
            </a:r>
          </a:p>
          <a:p>
            <a:r>
              <a:t>O principal desafio foi a incompatibilidade do ambiente: PyTorch 1.12.1 com Python 3.13, e a ausência de automação para download dos embeddings.</a:t>
            </a:r>
          </a:p>
          <a:p>
            <a:r>
              <a:t>A lição principal é que reprodutibilidade não depende apenas do código estar disponível — ela requer documentação clara, ambiente isolado e scripts de setup automatizados.</a:t>
            </a:r>
          </a:p>
          <a:p>
            <a:r>
              <a:t>Fico à disposição para perguntas.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31520"/>
            <a:ext cx="108813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376C"/>
                </a:solidFill>
              </a:rPr>
              <a:t>An Empirical Assessment of Different Word Embedding
and Deep Learning Models for Bug Assignment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487168"/>
            <a:ext cx="10332720" cy="457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</a:rPr>
              <a:t>Autores: Wang et 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3580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5C99"/>
                </a:solidFill>
              </a:rPr>
              <a:t>Journal of Systems and Software, Elsevier —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1985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DOI: 10.1016/j.jss.2024.111961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72000"/>
            <a:ext cx="10881360" cy="8229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4515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</a:rPr>
              <a:t>Apresentado por: Pedro Mesquita Maia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1091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Engenharia de Software — PUC-Rio  |  Junho de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Informações Gerais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Sobre o artigo selecionado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Publicação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27632"/>
            <a:ext cx="5303520" cy="36576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Periódico: Journal of Systems and Software (JSS)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Editora:  Elsevier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700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Ano: 2024  |  Acesso: ScienceDirect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4553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DOI: 10.1016/j.jss.2024.111961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55778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Indicadores de Qualidade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27632"/>
            <a:ext cx="5303520" cy="36576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1907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Indexado: Scopus e Web of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Área: Engenharia de Software internacional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700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Repositório público: github.com/AI4BA/dl4ba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14553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C1C"/>
                </a:solidFill>
              </a:rPr>
              <a:t>• Código-fonte e datasets disponibilizados pelos autores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O que é atribuição automática de bugs?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651760" cy="13716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Bug
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828800"/>
            <a:ext cx="2651760" cy="13716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8288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Modelo
NLP/ML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828800"/>
            <a:ext cx="2651760" cy="137160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288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Desenvolvedor
Previsto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</a:rPr>
              <a:t>• Entrada: texto do bug report (título + descrição)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78224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</a:rPr>
              <a:t>• Saída: desenvolvedor mais adequado para corrigir o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988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</a:rPr>
              <a:t>• Aplicação: sistemas de rastreamento de bugs (Bugzilla, Jira, GitHub Issues)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194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C1C1C"/>
                </a:solidFill>
              </a:rPr>
              <a:t>• Objetivo: automatizar uma tarefa repetitiva e crítica no desenvolvimento de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Por que é necessário automatizar?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09728" cy="1737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3258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Processo manual e lento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9928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Em projetos grandes, centenas de bugs são reportados por semana.
A triagem manual não acompanha o volume.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109728" cy="1737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3258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Dependência de experiência humana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709928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O triador precisa conhecer a expertise de cada desenvolvedor.
Esse conhecimento não é facilmente transferível.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4612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109728" cy="1737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3756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Atribuição incorreta gera retrabalho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21608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Um bug atribuído ao desenvolvedor errado precisa ser reatribuído,
atrasando a correção e aumentando o custo.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24612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246120"/>
            <a:ext cx="109728" cy="1737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333756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Escala dos projetos open-source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721608"/>
            <a:ext cx="5166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GCC, Firefox e Eclipse JDT têm dezenas de milhares de bugs
e dezenas de desenvolvedores ativos.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Motivação para Seleção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Por que este artigo foi escolhido?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Problema relevante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01368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Atribuição de bugs é um desafio real e prático em
Engenharia de Software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NLP +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01368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Combina técnicas modernas: embeddings contextuais,
redes neurais profundas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Artefatos disponíveis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13048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Datasets e código-fonte públicos no GitHub,
permitindo verificação independente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24612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Reprodução viável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13048"/>
            <a:ext cx="5166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O escopo pode ser simplificado para um
ambiente sem GPU de alto desempenho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Questões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O que o artigo investiga?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430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777240" cy="1417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353312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Qual combinação de embedding e modelo obtém
melhor desempenho na atribuição de bugs?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901952"/>
            <a:ext cx="74980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Compara 5 embeddings × 7 classificadores = 35 combinações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508760"/>
            <a:ext cx="2743200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11430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777240" cy="1417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3756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53512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Os resultados são consistentes entre
diferentes datasets?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502152"/>
            <a:ext cx="74980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Avalia GCC, Eclipse JDT e Firefox separadamente e em conjunto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108960"/>
            <a:ext cx="2743200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11430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777240" cy="14173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937760"/>
            <a:ext cx="777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553712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Usar summary + description melhora
o desempenho comparado a usar apenas um campo?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5102352"/>
            <a:ext cx="749807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Testa a concatenação dos dois campos textuais do bug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4709160"/>
            <a:ext cx="2743200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Conjuntos de dados utilizados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566160" cy="45720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161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GCC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GNU Compiler Collection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18872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188720"/>
            <a:ext cx="3566160" cy="457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2161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Eclipse JDT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Java Development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1188720"/>
            <a:ext cx="35661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03920" y="1188720"/>
            <a:ext cx="356616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12161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Mozilla Firefox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Navegador web open-source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440680"/>
            <a:ext cx="11430000" cy="4572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4864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Cada registro contém:   Bug ID  •  Summary (título)  •  Description (texto longo)  •  Assignee (desenvolvedor — variável alvo)  •  Status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173736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92608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Registros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Desenvolvedores únicos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Disponível no repositório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GCC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2.103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Sim (gcc_data.csv.zip)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Eclipse JDT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~10 k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~72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Sim (jdt_data.csv.zip)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Mozilla Firefox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~26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Sim (sun_firefox.csv.zip)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Word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Como representar texto para modelos de ML?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F5C99"/>
                </a:solidFill>
              </a:rPr>
              <a:t>Embedding = transformação de palavras em vetores numéricos que capturam seu significado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45920"/>
            <a:ext cx="2148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2148840" cy="38404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664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Word2Vec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2121408"/>
            <a:ext cx="2011680" cy="274320"/>
          </a:xfrm>
          <a:prstGeom prst="rect">
            <a:avLst/>
          </a:prstGeom>
          <a:solidFill>
            <a:srgbClr val="EAF2FB"/>
          </a:solidFill>
          <a:ln w="6350">
            <a:solidFill>
              <a:srgbClr val="1A3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121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376C"/>
                </a:solidFill>
              </a:rPr>
              <a:t>Estático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487168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Cada palavra → vetor fixo.
Treinado no GoogleNews (3,6 GB).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1645920"/>
            <a:ext cx="2148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0048" y="1645920"/>
            <a:ext cx="2148840" cy="38404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664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GloVe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2121408"/>
            <a:ext cx="2011680" cy="274320"/>
          </a:xfrm>
          <a:prstGeom prst="rect">
            <a:avLst/>
          </a:prstGeom>
          <a:solidFill>
            <a:srgbClr val="EAF2FB"/>
          </a:solidFill>
          <a:ln w="635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121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F5C99"/>
                </a:solidFill>
              </a:rPr>
              <a:t>Estático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487168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Baseado em co-ocorrência global.
Versão 840B 300d (2,2 GB).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6" y="1645920"/>
            <a:ext cx="2148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74336" y="1645920"/>
            <a:ext cx="2148840" cy="38404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1664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ELMo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7488" y="2121408"/>
            <a:ext cx="2011680" cy="274320"/>
          </a:xfrm>
          <a:prstGeom prst="rect">
            <a:avLst/>
          </a:prstGeom>
          <a:solidFill>
            <a:srgbClr val="E8F8F5"/>
          </a:solidFill>
          <a:ln w="6350">
            <a:solidFill>
              <a:srgbClr val="1E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2121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855"/>
                </a:solidFill>
              </a:rPr>
              <a:t>Contextual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487168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Vetor muda conforme o contexto.
Usa LSTM bidirecional (350 MB).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78624" y="1645920"/>
            <a:ext cx="2148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78624" y="1645920"/>
            <a:ext cx="21488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1776" y="1664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1776" y="2121408"/>
            <a:ext cx="2011680" cy="274320"/>
          </a:xfrm>
          <a:prstGeom prst="rect">
            <a:avLst/>
          </a:prstGeom>
          <a:solidFill>
            <a:srgbClr val="E8F8F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2121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Contextual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6" y="2487168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Transformers bidirecional.
Bert-base-uncased (440 MB).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82912" y="1645920"/>
            <a:ext cx="2148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82912" y="1645920"/>
            <a:ext cx="2148840" cy="384048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56064" y="16642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NextBug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56064" y="2121408"/>
            <a:ext cx="2011680" cy="274320"/>
          </a:xfrm>
          <a:prstGeom prst="rect">
            <a:avLst/>
          </a:prstGeom>
          <a:solidFill>
            <a:srgbClr val="EAF2FB"/>
          </a:solidFill>
          <a:ln w="635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56064" y="21214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D3C98"/>
                </a:solidFill>
              </a:rPr>
              <a:t>Especializado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6064" y="2487168"/>
            <a:ext cx="2029968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Treinado especificamente em
bug reports (DeepSIM).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Modelos de Classificação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Arquiteturas de deep learning avaliadas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920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92024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161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00784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Multilayer
Perceptron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2860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Rede totalmente conectada.
Baseline simples.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7712" y="1188720"/>
            <a:ext cx="1920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67712" y="1188720"/>
            <a:ext cx="192024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3432" y="12161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TextCNN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0864" y="1700784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76C"/>
                </a:solidFill>
              </a:rPr>
              <a:t>Convolutional
Neural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40864" y="22860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Filtros convolucionais
sobre o texto.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1188720"/>
            <a:ext cx="1920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4" y="1188720"/>
            <a:ext cx="1920240" cy="457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12161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6" y="1700784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Long Short-Term
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22860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Processa a sequência
de palavras.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54496" y="1188720"/>
            <a:ext cx="1920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54496" y="1188720"/>
            <a:ext cx="1920240" cy="45720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12161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LSTM-Att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1700784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5C99"/>
                </a:solidFill>
              </a:rPr>
              <a:t>LSTM com
Atenção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22860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LSTM + mecanismo
de atenção.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1188720"/>
            <a:ext cx="1920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1188720"/>
            <a:ext cx="1920240" cy="45720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93608" y="12161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Bi-LSTM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700784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8855"/>
                </a:solidFill>
              </a:rPr>
              <a:t>Bi-direcional
LSTM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2860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Lê o texto nos
dois sentidos.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1188720"/>
            <a:ext cx="1920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41280" y="1188720"/>
            <a:ext cx="19202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1216152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Bi-LSTM-Att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4432" y="1700784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Bi-LSTM com
Atenção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4432" y="2286000"/>
            <a:ext cx="1783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Bi-LSTM + atenção.
Melhor resultado.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77840"/>
            <a:ext cx="11612880" cy="6858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6235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6C"/>
                </a:solidFill>
              </a:rPr>
              <a:t>Total avaliado: 5 embeddings × 7 modelos (incluindo Naive Bayes) = 35 combinações únicas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Metodologia 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Pipeline proposto pelo artigo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148840" cy="1508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17320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
Bug
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01752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06324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</a:rPr>
              <a:t>Texto do
bug report
(summary +
description)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0592" y="192024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417320"/>
            <a:ext cx="2148840" cy="150876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24328" y="1417320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
Pré-
processo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301752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306324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</a:rPr>
              <a:t>Remoção de
stopwords,
limpeza e
tokenização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92024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4336" y="1417320"/>
            <a:ext cx="2148840" cy="1508760"/>
          </a:xfrm>
          <a:prstGeom prst="rect">
            <a:avLst/>
          </a:prstGeom>
          <a:solidFill>
            <a:srgbClr val="1A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4336" y="1417320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
Embedding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301752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306324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</a:rPr>
              <a:t>Word2Vec /
GloVe / ELMo
/ BERT /
NextBug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192024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4344" y="1417320"/>
            <a:ext cx="2148840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1417320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
Modelo
DL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24344" y="301752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97496" y="306324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</a:rPr>
              <a:t>TextCNN,
LSTM,
Bi-LSTM,
MLP...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6" y="192024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F5C99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74352" y="1417320"/>
            <a:ext cx="2148840" cy="150876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1417320"/>
            <a:ext cx="21488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
Desenv.
Previsto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74352" y="301752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3063240"/>
            <a:ext cx="2011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C1C1C"/>
                </a:solidFill>
              </a:rPr>
              <a:t>Ranking de
desenvolv.
por
probabilidade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572000"/>
            <a:ext cx="11612880" cy="10972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376C"/>
                </a:solidFill>
              </a:rPr>
              <a:t>Avaliação: 10-fold Cross-Validation   |   Métricas: Top-1, Top-5, Top-10 Accuracy e MRR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C1C1C"/>
                </a:solidFill>
              </a:rPr>
              <a:t>Análise estatística: Cliff's Delta (tamanho de efeito) + Teste de Wilcoxon (significância)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Métricas de 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Como medir a qualidade das predições?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697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697480" cy="56692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Top-1
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O modelo acertou o desenvolvedor na 1ª sugestão?
Top-1 = 0.52  →  acerta 1 em cada 2 bugs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188720"/>
            <a:ext cx="2697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1188720"/>
            <a:ext cx="2697480" cy="566928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188720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Top-5
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82880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O correto está entre as 5 primeiras sugestões?
Top-5 = 0.75  →  acerta 3 em cada 4 bugs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188720"/>
            <a:ext cx="2697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188720"/>
            <a:ext cx="2697480" cy="56692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188720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Top-10
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82880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O correto está entre as 10 primeiras sugestões?
Top-10 = 0.85  →  acerta 5 em cada 6 bugs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188720"/>
            <a:ext cx="2697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188720"/>
            <a:ext cx="269748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188720"/>
            <a:ext cx="2697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828800"/>
            <a:ext cx="2514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Posição média do correto na lista ordenada.
MRR = média de 1/posição
MRR = 0.63  →  correto ~na posição 1.6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6235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Validação: 10-fold Cross-Validation estratificada — mesma proporção de classes em cada fold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Principais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O que o artigo concluiu?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137160" cy="109728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</a:rPr>
              <a:t>ELMo foi o embedding mais eficaz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642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Embeddings contextuais (ELMo, BERT) superaram
consistentemente os estáticos (Word2Vec, GloVe, NextBug)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1430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377440"/>
            <a:ext cx="137160" cy="1097280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5C99"/>
                </a:solidFill>
              </a:rPr>
              <a:t>Bi-LSTM com Atenção foi o melhor 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Captura relações bidirecionais e pondera
as partes mais relevantes do texto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66160"/>
            <a:ext cx="11430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13716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57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</a:rPr>
              <a:t>Summary + Description melhora os resultados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4164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Usar os dois campos textuais do bug report
aumenta o desempenho em todos os datasets (RQ3)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114300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754880"/>
            <a:ext cx="137160" cy="109728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846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D3C98"/>
                </a:solidFill>
              </a:rPr>
              <a:t>Resultados variam entre datasets (RQ2)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2303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O melhor modelo em GCC não é necessariamente
o melhor em Firefox — contexto importa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Artefatos Disponíveis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O que os autores disponibilizaram?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15568"/>
            <a:ext cx="1143000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300"/>
                </a:solidFill>
              </a:rPr>
              <a:t>github.com/AI4BA/dl4ba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64208"/>
            <a:ext cx="3703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64208"/>
            <a:ext cx="3703320" cy="438912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6916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19456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gcc_data.csv.zip (2.103 registros)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633472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jdt_data.csv.zip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072384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sun_firefox.csv.zip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511296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Sem necessidade de cadastro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664208"/>
            <a:ext cx="3703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664208"/>
            <a:ext cx="3703320" cy="438912"/>
          </a:xfrm>
          <a:prstGeom prst="rect">
            <a:avLst/>
          </a:prstGeom>
          <a:solidFill>
            <a:srgbClr val="1F5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16916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Código-fonte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19456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models.py — TextCNN, LSTM, Bi-LSTM,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633472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train.py — script CLI de treinamento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072384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utils.py — pré-processamento + embeddings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8" y="3511296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parameters.json — hiperparâmetros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664208"/>
            <a:ext cx="37033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664208"/>
            <a:ext cx="370332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16916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Resultados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194560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res/rq1/ — resultados por modelo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2633472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res/rq2/ — médias por 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072384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res/rq3/ — ablação summary vs desc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3511296"/>
            <a:ext cx="349300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✓  Testes de Wilcoxon e Cliff's Delta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Plano de Replicação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Por que uma reprodução simplificada?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4864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486400" cy="4114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61288"/>
            <a:ext cx="53035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Obstáculos para reprodução completa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642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392B"/>
                </a:solidFill>
              </a:rPr>
              <a:t>✗  PyTorch 1.12.1 é incompatível com Python ≥ 3.10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03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392B"/>
                </a:solidFill>
              </a:rPr>
              <a:t>✗  Embeddings externos somam &gt; 7 GB de download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420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392B"/>
                </a:solidFill>
              </a:rPr>
              <a:t>✗  GPU RTX 3090 necessária para execução eficiente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8094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392B"/>
                </a:solidFill>
              </a:rPr>
              <a:t>✗  Caminhos de arquivos hard-coded no código-fonte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985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392B"/>
                </a:solidFill>
              </a:rPr>
              <a:t>✗  Ausência de script de download automatizado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58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392B"/>
                </a:solidFill>
              </a:rPr>
              <a:t>✗  README sem exemplos de comandos executáveis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143000"/>
            <a:ext cx="55321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0C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143000"/>
            <a:ext cx="5532120" cy="41148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161288"/>
            <a:ext cx="53492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Reprodução simplificada adotada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66420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8855"/>
                </a:solidFill>
              </a:rPr>
              <a:t>✓  Dataset: GCC (disponível no repositório)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8855"/>
                </a:solidFill>
              </a:rPr>
              <a:t>✓  Embedding: TF-IDF (sem download externo)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42032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8855"/>
                </a:solidFill>
              </a:rPr>
              <a:t>✓  Modelo: Regressão Logística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80944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8855"/>
                </a:solidFill>
              </a:rPr>
              <a:t>✓  Execução: 100% em CPU (~30 segundos)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19856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8855"/>
                </a:solidFill>
              </a:rPr>
              <a:t>✓  Validação: 10-fold CV (igual ao artigo)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58768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8855"/>
                </a:solidFill>
              </a:rPr>
              <a:t>✓  Métricas: Top-1, Top-5, Top-10, MRR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Reprodução Simplificada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Configuração do experimento executado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5603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188720"/>
            <a:ext cx="8915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225296"/>
            <a:ext cx="873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GCC  (gcc_data.csv — baixado do repositório original)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00784"/>
            <a:ext cx="25603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Amostras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700784"/>
            <a:ext cx="8915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1737360"/>
            <a:ext cx="873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1.987 registros após filtro de classes com &lt; 10 amostras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12848"/>
            <a:ext cx="25603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24942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212848"/>
            <a:ext cx="8915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2249424"/>
            <a:ext cx="873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36 desenvolvedores únicos (de 82 no total)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24912"/>
            <a:ext cx="25603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7614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2724912"/>
            <a:ext cx="8915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2761488"/>
            <a:ext cx="873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Summary + Description concatenados e limpos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36976"/>
            <a:ext cx="25603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2735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Embedding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3236976"/>
            <a:ext cx="8915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3273552"/>
            <a:ext cx="873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TF-IDF  (max_features=20.000, ngram=(1,2), sublinear_tf=True)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49040"/>
            <a:ext cx="25603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785616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749040"/>
            <a:ext cx="8915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3785616"/>
            <a:ext cx="873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Regressão Logística multinomial  (C=1.0, solver=lbfgs)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61104"/>
            <a:ext cx="25603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297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Validação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71800" y="4261104"/>
            <a:ext cx="8915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4297680"/>
            <a:ext cx="873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10-fold Stratified Cross-Validation  (random_seed=1234)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73168"/>
            <a:ext cx="2560320" cy="438912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80974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71800" y="4773168"/>
            <a:ext cx="8915400" cy="43891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63240" y="4809744"/>
            <a:ext cx="8732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1C"/>
                </a:solidFill>
              </a:rPr>
              <a:t>CPU — sem GPU — ~30 segundos de execução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Resultados da Reprodução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Métricas obtidas no experimento executado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1828800"/>
                <a:gridCol w="52120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Média (10 folds)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Desvio Padrão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Interpretação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</a:rPr>
                        <a:t>Top-1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0.5229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±0.0219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1ª sugestão correta em 52% dos bugs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</a:rPr>
                        <a:t>Top-5 Accuracy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0.7504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±0.0127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Correto entre os 5 primeiros em 75%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</a:rPr>
                        <a:t>Top-10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0.8541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±0.0142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Correto entre os 10 primeiros em 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C1C1C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0.6279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±0.0153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C1C1C"/>
                          </a:solidFill>
                        </a:rPr>
                        <a:t>Correto ~na posição 1.6 da lista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3429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Resultados por fold (10-fold CV):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822191"/>
            <a:ext cx="11430000" cy="8686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858768"/>
            <a:ext cx="1115568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1A376C"/>
                </a:solidFill>
              </a:rPr>
              <a:t>Fold 1: 0.5226  |  Fold 2: 0.5025  |  Fold 3: 0.5528  |  Fold 4: 0.5327  |  Fold 5: 0.5126
Fold 6: 0.5427  |  Fold 7: 0.5377  |  Fold 8: 0.4899  |  Fold 9: 0.4899  |  Fold 10: 0.5455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828032"/>
            <a:ext cx="56692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864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55"/>
                </a:solidFill>
              </a:rPr>
              <a:t>Desvio padrão &lt; 0.022 em todas as métricas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9379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O modelo é estável — resultados não dependem do fold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828032"/>
            <a:ext cx="56692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5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864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5C99"/>
                </a:solidFill>
              </a:rPr>
              <a:t>Execução: 28.8 segundos em CPU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193792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1C1C"/>
                </a:solidFill>
              </a:rPr>
              <a:t>Experimento reproduzível em qualquer computador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Comparação com o Artigo Original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C300"/>
                </a:solidFill>
              </a:rPr>
              <a:t>Análise das diferenças nos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88720"/>
          <a:ext cx="114300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2336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Artigo (TextCNN + Word2Vec, GCC)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Reprodução (TF-IDF + LR, GCC)</a:t>
                      </a:r>
                    </a:p>
                  </a:txBody>
                  <a:tcPr>
                    <a:solidFill>
                      <a:srgbClr val="1F5C9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Top-1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0.5229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Top-5 Accuracy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~0.63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0.7504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Top-10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0.8541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~0.49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0.6279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Classes avaliadas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82 (todos)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36 (filtrado ≥ 10 amostras)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C1C1C"/>
                          </a:solidFill>
                        </a:rPr>
                        <a:t>Tempo de execução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Horas (GPU)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C1C1C"/>
                          </a:solidFill>
                        </a:rPr>
                        <a:t>~30 s (CPU)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4572000"/>
            <a:ext cx="11430000" cy="123444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617720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56404"/>
                </a:solidFill>
              </a:rPr>
              <a:t>Atenção — esta comparação deve ser interpretada com cautela: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1091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D4C41"/>
                </a:solidFill>
              </a:rPr>
              <a:t>Os valores reproduzidos são numericamente superiores não por TF-IDF superar deep learning,
mas porque a reprodução usa 36 classes (problema mais fácil) em vez das 82 do artigo original.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109728" cy="91440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</a:rPr>
              <a:t>Artefatos de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Datasets, código e resultados pré-computados disponíveis no GitHub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75688"/>
            <a:ext cx="109728" cy="9144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6E4F0"/>
                </a:solidFill>
              </a:rPr>
              <a:t>Reprodução parcialmente bem-sucedida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50545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O pipeline foi executado de ponta a ponta com resultados coerentes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099816"/>
            <a:ext cx="109728" cy="9144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Modelo simplificado foi competitivo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29584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TF-IDF + LR atingiu Top-1 = 0.52 e MRR = 0.63 em 36 classes, em ~30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23944"/>
            <a:ext cx="109728" cy="914400"/>
          </a:xfrm>
          <a:prstGeom prst="rect">
            <a:avLst/>
          </a:prstGeom>
          <a:solidFill>
            <a:srgbClr val="FF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1696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080"/>
                </a:solidFill>
              </a:rPr>
              <a:t>Desafio principal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537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PyTorch desatualizado e embeddings externos de &gt;7 GB sem automação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48072"/>
            <a:ext cx="109728" cy="914400"/>
          </a:xfrm>
          <a:prstGeom prst="rect">
            <a:avLst/>
          </a:prstGeom>
          <a:solidFill>
            <a:srgbClr val="A8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1937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D8EA"/>
                </a:solidFill>
              </a:rPr>
              <a:t>Lição aprendida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7784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Reprodutibilidade melhora com: ambiente dockerizado, scripts de download
e exemplos de comandos no README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83680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CCDD"/>
                </a:solidFill>
              </a:rPr>
              <a:t>Wang et al. | JSS 2024 | Reprodução — Pedro Mesquita Maia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